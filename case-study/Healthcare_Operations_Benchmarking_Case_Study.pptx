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9"/>
  </p:notesMasterIdLst>
  <p:sldIdLst>
    <p:sldId id="256" r:id="rId2"/>
    <p:sldId id="265" r:id="rId3"/>
    <p:sldId id="271" r:id="rId4"/>
    <p:sldId id="270" r:id="rId5"/>
    <p:sldId id="278" r:id="rId6"/>
    <p:sldId id="279" r:id="rId7"/>
    <p:sldId id="280" r:id="rId8"/>
    <p:sldId id="282" r:id="rId9"/>
    <p:sldId id="283" r:id="rId10"/>
    <p:sldId id="277" r:id="rId11"/>
    <p:sldId id="284" r:id="rId12"/>
    <p:sldId id="285" r:id="rId13"/>
    <p:sldId id="286" r:id="rId14"/>
    <p:sldId id="287" r:id="rId15"/>
    <p:sldId id="267" r:id="rId16"/>
    <p:sldId id="288" r:id="rId17"/>
    <p:sldId id="289" r:id="rId18"/>
  </p:sldIdLst>
  <p:sldSz cx="9144000" cy="5143500" type="screen16x9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DM Sans" pitchFamily="2" charset="0"/>
      <p:regular r:id="rId24"/>
      <p:bold r:id="rId25"/>
      <p:italic r:id="rId26"/>
      <p:boldItalic r:id="rId27"/>
    </p:embeddedFont>
    <p:embeddedFont>
      <p:font typeface="DM Sans Medium" pitchFamily="2" charset="0"/>
      <p:regular r:id="rId28"/>
      <p:bold r:id="rId29"/>
      <p:italic r:id="rId30"/>
      <p:boldItalic r:id="rId31"/>
    </p:embeddedFont>
    <p:embeddedFont>
      <p:font typeface="Inter Light" panose="020B0604020202020204" charset="0"/>
      <p:regular r:id="rId32"/>
      <p:bold r:id="rId33"/>
      <p:italic r:id="rId34"/>
      <p:boldItalic r:id="rId35"/>
    </p:embeddedFont>
    <p:embeddedFont>
      <p:font typeface="Lora" pitchFamily="2" charset="0"/>
      <p:regular r:id="rId36"/>
      <p:bold r:id="rId37"/>
      <p:italic r:id="rId38"/>
      <p:boldItalic r:id="rId39"/>
    </p:embeddedFont>
    <p:embeddedFont>
      <p:font typeface="Lustria" panose="020B0604020202020204" charset="0"/>
      <p:regular r:id="rId40"/>
    </p:embeddedFont>
    <p:embeddedFont>
      <p:font typeface="PT Serif" panose="020A0603040505020204" pitchFamily="18" charset="0"/>
      <p:regular r:id="rId41"/>
      <p:bold r:id="rId42"/>
      <p:italic r:id="rId43"/>
      <p:boldItalic r:id="rId44"/>
    </p:embeddedFont>
    <p:embeddedFont>
      <p:font typeface="Roboto Mono" panose="00000009000000000000" pitchFamily="49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06B5915-A98E-4E56-8D00-E4F5FFEB1B49}">
  <a:tblStyle styleId="{506B5915-A98E-4E56-8D00-E4F5FFEB1B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7" autoAdjust="0"/>
    <p:restoredTop sz="83542" autoAdjust="0"/>
  </p:normalViewPr>
  <p:slideViewPr>
    <p:cSldViewPr snapToGrid="0">
      <p:cViewPr varScale="1">
        <p:scale>
          <a:sx n="112" d="100"/>
          <a:sy n="112" d="100"/>
        </p:scale>
        <p:origin x="86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font" Target="fonts/font28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0.fntdata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font" Target="fonts/font2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font" Target="fonts/font25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openxmlformats.org/officeDocument/2006/relationships/font" Target="fonts/font29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font" Target="fonts/font27.fntdata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32a195f5b_0_1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32a195f5b_0_1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4BCB8A-C4D1-0042-6B2F-B8CB925D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55527516-44E3-407E-5B05-85A0691766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B0A7079B-F258-236C-A49A-EAFD7F1FA3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7449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4B12D3-CBFF-B324-DC27-419AA7D1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E5706D93-94DF-A10A-74E1-CF7FB84A6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12D71004-79B9-8A8E-5155-0FBCDFA390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972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D66FBF2-620E-FF37-5FE3-0AE4D29BD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5B0E6FBA-C021-7D51-4CBB-BA1CD47842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5EFE84D8-5929-AC16-6B95-D149E206F5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4771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1452769A-605B-3475-DB0F-8C5FF0F1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F2CB987E-A471-E2A3-6150-4F4EE004B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0C358677-7EA7-5639-51D7-76DA795F1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9401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1AFBE07-769C-CE6C-C048-CD11FF89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74ED9571-ADFD-7706-D008-13042CBAE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904AF9F9-E222-CBE5-A14F-5B9097975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7024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B38307A-ED97-486C-A957-4BC8C839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62723F77-9771-DA4C-3BE9-E28A41364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7120FEE8-5402-E834-1F31-7BE13D2A2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8062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6F54D97-868A-3A07-1105-0B543690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ECED48B0-6B0E-D03B-D0BF-27CE24913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CA583C37-6989-AC3A-2F52-1A17CF249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848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B91BED6-5283-DF2E-58CE-8741CB6C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85F74F77-4BCE-EFBE-77BF-90DFA6C2E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C106075C-6024-F008-1FC2-9BD10966A8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88507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90B6CFD5-5682-3063-8DE1-89FA2C56A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23D019A0-8138-80A4-9FCC-459F88E54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2F5CF2AB-9CEA-8B3E-895A-16FD06E8A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490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9F0DDD6-7E82-2061-18BA-C3A4D4B28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5567D7DF-7CD5-1115-4632-4CB563C57A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BC93919B-42BE-84A3-C78B-5CEB5FA5A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77107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805B87E-515C-0732-77B4-3D9674132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E70B7C49-B2D7-07C9-69CC-8E1F76974D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5605F33A-FBC6-BE7B-8294-697CC396EE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36433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0E7170B-C7A9-1F94-D307-772D11B5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010F06EA-77FF-24EF-DF70-B57F1293B0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2FE8C9EE-DD6E-6FEA-1246-7CDF7D206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5486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5D0304C-6678-C8D5-41E9-013E50499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A3D0ED52-F129-2FC3-1DE1-3E91E09AF3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D2895435-5BB2-7809-9FDE-3555C1EC10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9702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4F037CB-33AA-3C2D-D7D3-C65929D9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35451A19-D78B-7F16-A5CD-C4DCA9F24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7352BC0F-142E-BA79-0462-C6DED73E9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 Weight values &lt;70 </a:t>
            </a:r>
            <a:r>
              <a:rPr lang="en-US" dirty="0" err="1"/>
              <a:t>lbs</a:t>
            </a:r>
            <a:r>
              <a:rPr lang="en-US" dirty="0"/>
              <a:t> or &gt;450 </a:t>
            </a:r>
            <a:r>
              <a:rPr lang="en-US" dirty="0" err="1"/>
              <a:t>lbs</a:t>
            </a:r>
            <a:r>
              <a:rPr lang="en-US" dirty="0"/>
              <a:t> were considered erroneous and excluded from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2. If weight event occurred, weight was not accessed for a week.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28488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872E7C7-CABD-07B2-0B85-CC9711B7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51c1ef8be_0_74:notes">
            <a:extLst>
              <a:ext uri="{FF2B5EF4-FFF2-40B4-BE49-F238E27FC236}">
                <a16:creationId xmlns:a16="http://schemas.microsoft.com/office/drawing/2014/main" id="{7A6F17A8-5883-BCE6-FD46-653C21D339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51c1ef8be_0_74:notes">
            <a:extLst>
              <a:ext uri="{FF2B5EF4-FFF2-40B4-BE49-F238E27FC236}">
                <a16:creationId xmlns:a16="http://schemas.microsoft.com/office/drawing/2014/main" id="{B6F7574F-3840-7D73-4D66-D8BAAC6C2D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78402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F99D150-8EA3-3C65-2BAE-B1FEAE000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32a195f5b_0_1335:notes">
            <a:extLst>
              <a:ext uri="{FF2B5EF4-FFF2-40B4-BE49-F238E27FC236}">
                <a16:creationId xmlns:a16="http://schemas.microsoft.com/office/drawing/2014/main" id="{31BAAC9C-6445-9D46-7F43-2D865E39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32a195f5b_0_1335:notes">
            <a:extLst>
              <a:ext uri="{FF2B5EF4-FFF2-40B4-BE49-F238E27FC236}">
                <a16:creationId xmlns:a16="http://schemas.microsoft.com/office/drawing/2014/main" id="{C1752573-152C-3DBE-A424-136E51D28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3507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– Dark Green">
  <p:cSld name="CUSTOM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89650" y="91450"/>
            <a:ext cx="8964600" cy="4669800"/>
          </a:xfrm>
          <a:prstGeom prst="roundRect">
            <a:avLst>
              <a:gd name="adj" fmla="val 2863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88400" y="943700"/>
            <a:ext cx="4716300" cy="172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– Light Teal">
  <p:cSld name="CUSTOM_1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9650" y="91450"/>
            <a:ext cx="8964600" cy="4669800"/>
          </a:xfrm>
          <a:prstGeom prst="roundRect">
            <a:avLst>
              <a:gd name="adj" fmla="val 286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88400" y="943700"/>
            <a:ext cx="4716300" cy="172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– Light Teal 2">
  <p:cSld name="CUSTOM_1_1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89650" y="91450"/>
            <a:ext cx="8964600" cy="4669800"/>
          </a:xfrm>
          <a:prstGeom prst="roundRect">
            <a:avLst>
              <a:gd name="adj" fmla="val 286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88400" y="943700"/>
            <a:ext cx="4716300" cy="172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– Light Teal 2 1">
  <p:cSld name="CUSTOM_1_1_2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89650" y="91450"/>
            <a:ext cx="8964600" cy="4669800"/>
          </a:xfrm>
          <a:prstGeom prst="roundRect">
            <a:avLst>
              <a:gd name="adj" fmla="val 2863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88400" y="943700"/>
            <a:ext cx="4716300" cy="172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– Light Teal 2 1 1">
  <p:cSld name="CUSTOM_1_1_2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/>
          <p:nvPr/>
        </p:nvSpPr>
        <p:spPr>
          <a:xfrm>
            <a:off x="89650" y="91450"/>
            <a:ext cx="8964600" cy="4669800"/>
          </a:xfrm>
          <a:prstGeom prst="roundRect">
            <a:avLst>
              <a:gd name="adj" fmla="val 2863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88400" y="943700"/>
            <a:ext cx="4716300" cy="172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– Light Teal 1">
  <p:cSld name="CUSTOM_1_1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/>
          <p:nvPr/>
        </p:nvSpPr>
        <p:spPr>
          <a:xfrm>
            <a:off x="89650" y="91450"/>
            <a:ext cx="8964600" cy="4669800"/>
          </a:xfrm>
          <a:prstGeom prst="roundRect">
            <a:avLst>
              <a:gd name="adj" fmla="val 3624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88400" y="943700"/>
            <a:ext cx="4716300" cy="172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_2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388400" y="943700"/>
            <a:ext cx="3438900" cy="260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8" name="Google Shape;28;p8"/>
          <p:cNvSpPr/>
          <p:nvPr/>
        </p:nvSpPr>
        <p:spPr>
          <a:xfrm>
            <a:off x="4482500" y="-15950"/>
            <a:ext cx="4669500" cy="5159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– Dark Green">
  <p:cSld name="CUSTOM_2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1967400" cy="21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1" name="Google Shape;31;p9"/>
          <p:cNvSpPr/>
          <p:nvPr/>
        </p:nvSpPr>
        <p:spPr>
          <a:xfrm>
            <a:off x="4482500" y="-15950"/>
            <a:ext cx="4669500" cy="5159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– Dark Purple">
  <p:cSld name="CUSTOM_2_1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1967400" cy="210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4" name="Google Shape;34;p10"/>
          <p:cNvSpPr/>
          <p:nvPr/>
        </p:nvSpPr>
        <p:spPr>
          <a:xfrm>
            <a:off x="4482500" y="-15950"/>
            <a:ext cx="4669500" cy="515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Simple Header with Bar – Dark Green">
  <p:cSld name="CUSTOM_3_1_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4094100" cy="35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1"/>
          </p:nvPr>
        </p:nvSpPr>
        <p:spPr>
          <a:xfrm>
            <a:off x="388400" y="943700"/>
            <a:ext cx="1967700" cy="12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8pPr>
            <a:lvl9pPr marL="4114800" lvl="8" indent="-2794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41" name="Google Shape;41;p12"/>
          <p:cNvSpPr/>
          <p:nvPr/>
        </p:nvSpPr>
        <p:spPr>
          <a:xfrm>
            <a:off x="9015900" y="0"/>
            <a:ext cx="1281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Simple Header with Bar – Dark Green 1">
  <p:cSld name="CUSTOM_3_1_2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4094100" cy="35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1"/>
          </p:nvPr>
        </p:nvSpPr>
        <p:spPr>
          <a:xfrm>
            <a:off x="388400" y="943700"/>
            <a:ext cx="1967700" cy="12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8pPr>
            <a:lvl9pPr marL="4114800" lvl="8" indent="-2794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9015900" y="0"/>
            <a:ext cx="1281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up Columns – Standard">
  <p:cSld name="CUSTOM_3_1_1_1_1_1_1_1_1_1_1_2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4094100" cy="35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1"/>
          </p:nvPr>
        </p:nvSpPr>
        <p:spPr>
          <a:xfrm>
            <a:off x="388400" y="1947675"/>
            <a:ext cx="2675400" cy="281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ubTitle" idx="2"/>
          </p:nvPr>
        </p:nvSpPr>
        <p:spPr>
          <a:xfrm>
            <a:off x="388650" y="1272425"/>
            <a:ext cx="2675400" cy="49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erif"/>
              <a:buNone/>
              <a:defRPr sz="14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3"/>
          </p:nvPr>
        </p:nvSpPr>
        <p:spPr>
          <a:xfrm>
            <a:off x="3245950" y="1272425"/>
            <a:ext cx="2660100" cy="49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erif"/>
              <a:buNone/>
              <a:defRPr sz="14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ubTitle" idx="4"/>
          </p:nvPr>
        </p:nvSpPr>
        <p:spPr>
          <a:xfrm>
            <a:off x="6095625" y="1272425"/>
            <a:ext cx="2660100" cy="49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T Serif"/>
              <a:buNone/>
              <a:defRPr sz="1400">
                <a:solidFill>
                  <a:schemeClr val="dk2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5"/>
          </p:nvPr>
        </p:nvSpPr>
        <p:spPr>
          <a:xfrm>
            <a:off x="3203000" y="1947675"/>
            <a:ext cx="2675400" cy="281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body" idx="6"/>
          </p:nvPr>
        </p:nvSpPr>
        <p:spPr>
          <a:xfrm>
            <a:off x="6087975" y="1947675"/>
            <a:ext cx="2675400" cy="281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up Columns – Standard 1">
  <p:cSld name="CUSTOM_3_1_1_1_1_1_1_1_1_1_1_2_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4094100" cy="35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380725" y="1502675"/>
            <a:ext cx="2675400" cy="281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Font typeface="DM Sans"/>
              <a:buChar char="■"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Font typeface="DM Sans"/>
              <a:buChar char="●"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Font typeface="DM Sans"/>
              <a:buChar char="■"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Font typeface="DM Sans"/>
              <a:buChar char="●"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Font typeface="DM Sans"/>
              <a:buChar char="○"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Font typeface="DM Sans"/>
              <a:buChar char="■"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ubTitle" idx="2"/>
          </p:nvPr>
        </p:nvSpPr>
        <p:spPr>
          <a:xfrm>
            <a:off x="380975" y="827425"/>
            <a:ext cx="2675400" cy="49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T Serif"/>
              <a:buNone/>
              <a:defRPr sz="1400">
                <a:latin typeface="PT Serif"/>
                <a:ea typeface="PT Serif"/>
                <a:cs typeface="PT Serif"/>
                <a:sym typeface="PT Serif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None/>
              <a:defRPr sz="12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4 White">
  <p:cSld name="CUSTOM_4">
    <p:bg>
      <p:bgPr>
        <a:solidFill>
          <a:srgbClr val="FFFFFF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1682400" cy="44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0" name="Google Shape;60;p16"/>
          <p:cNvSpPr/>
          <p:nvPr/>
        </p:nvSpPr>
        <p:spPr>
          <a:xfrm>
            <a:off x="2356100" y="0"/>
            <a:ext cx="6787800" cy="515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1"/>
          </p:nvPr>
        </p:nvSpPr>
        <p:spPr>
          <a:xfrm>
            <a:off x="384048" y="941832"/>
            <a:ext cx="1682400" cy="6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279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279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279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6pPr>
            <a:lvl7pPr marL="3200400" lvl="6" indent="-279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7pPr>
            <a:lvl8pPr marL="3657600" lvl="7" indent="-279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8pPr>
            <a:lvl9pPr marL="4114800" lvl="8" indent="-2794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2"/>
          </p:nvPr>
        </p:nvSpPr>
        <p:spPr>
          <a:xfrm>
            <a:off x="388398" y="2048256"/>
            <a:ext cx="1682400" cy="271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DM Sans"/>
              <a:buChar char="○"/>
              <a:defRPr sz="800"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6pPr>
            <a:lvl7pPr marL="3200400" lvl="6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7pPr>
            <a:lvl8pPr marL="3657600" lvl="7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8pPr>
            <a:lvl9pPr marL="4114800" lvl="8" indent="-2794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title" idx="3"/>
          </p:nvPr>
        </p:nvSpPr>
        <p:spPr>
          <a:xfrm>
            <a:off x="384048" y="1709928"/>
            <a:ext cx="1682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/>
          <p:nvPr/>
        </p:nvSpPr>
        <p:spPr>
          <a:xfrm>
            <a:off x="8040400" y="4759650"/>
            <a:ext cx="7152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77777"/>
                </a:solidFill>
                <a:latin typeface="Roboto Mono"/>
                <a:ea typeface="Roboto Mono"/>
                <a:cs typeface="Roboto Mono"/>
                <a:sym typeface="Roboto Mono"/>
              </a:rPr>
              <a:t>Page </a:t>
            </a:r>
            <a:fld id="{00000000-1234-1234-1234-123412341234}" type="slidenum">
              <a:rPr lang="en" sz="700">
                <a:solidFill>
                  <a:srgbClr val="777777"/>
                </a:solidFill>
                <a:latin typeface="Roboto Mono"/>
                <a:ea typeface="Roboto Mono"/>
                <a:cs typeface="Roboto Mono"/>
                <a:sym typeface="Roboto Mono"/>
              </a:rPr>
              <a:t>‹#›</a:t>
            </a:fld>
            <a:endParaRPr sz="700">
              <a:solidFill>
                <a:srgbClr val="777777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/4 Gray">
  <p:cSld name="CUSTOM_4_1"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/>
        </p:nvSpPr>
        <p:spPr>
          <a:xfrm flipH="1">
            <a:off x="-100" y="0"/>
            <a:ext cx="2356200" cy="515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1682400" cy="44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384050" y="941789"/>
            <a:ext cx="1682400" cy="409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6pPr>
            <a:lvl7pPr marL="3200400" lvl="6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7pPr>
            <a:lvl8pPr marL="3657600" lvl="7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8pPr>
            <a:lvl9pPr marL="4114800" lvl="8" indent="-2794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body" idx="2"/>
          </p:nvPr>
        </p:nvSpPr>
        <p:spPr>
          <a:xfrm>
            <a:off x="388398" y="2048256"/>
            <a:ext cx="1682400" cy="271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6pPr>
            <a:lvl7pPr marL="3200400" lvl="6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7pPr>
            <a:lvl8pPr marL="3657600" lvl="7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8pPr>
            <a:lvl9pPr marL="4114800" lvl="8" indent="-2794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title" idx="3"/>
          </p:nvPr>
        </p:nvSpPr>
        <p:spPr>
          <a:xfrm>
            <a:off x="384048" y="1709928"/>
            <a:ext cx="1682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l="259" r="-3993"/>
          <a:stretch/>
        </p:blipFill>
        <p:spPr>
          <a:xfrm>
            <a:off x="388400" y="4896300"/>
            <a:ext cx="975549" cy="13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duct Page">
  <p:cSld name="CUSTOM_6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subTitle" idx="1"/>
          </p:nvPr>
        </p:nvSpPr>
        <p:spPr>
          <a:xfrm>
            <a:off x="4669625" y="1106425"/>
            <a:ext cx="4081200" cy="137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ora"/>
              <a:buNone/>
              <a:defRPr sz="2400">
                <a:latin typeface="Lora"/>
                <a:ea typeface="Lora"/>
                <a:cs typeface="Lora"/>
                <a:sym typeface="L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ubTitle" idx="2"/>
          </p:nvPr>
        </p:nvSpPr>
        <p:spPr>
          <a:xfrm>
            <a:off x="6809200" y="1948350"/>
            <a:ext cx="1946700" cy="36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400"/>
              <a:buFont typeface="DM Sans"/>
              <a:buNone/>
              <a:defRPr sz="2400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ubTitle" idx="3"/>
          </p:nvPr>
        </p:nvSpPr>
        <p:spPr>
          <a:xfrm>
            <a:off x="4669625" y="2667350"/>
            <a:ext cx="1946700" cy="57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4"/>
          </p:nvPr>
        </p:nvSpPr>
        <p:spPr>
          <a:xfrm>
            <a:off x="4669625" y="3234900"/>
            <a:ext cx="1946700" cy="6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1pPr>
            <a:lvl2pPr marL="914400" lvl="1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2pPr>
            <a:lvl3pPr marL="1371600" lvl="2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6pPr>
            <a:lvl7pPr marL="3200400" lvl="6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7pPr>
            <a:lvl8pPr marL="3657600" lvl="7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8pPr>
            <a:lvl9pPr marL="4114800" lvl="8" indent="-2794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ubTitle" idx="5"/>
          </p:nvPr>
        </p:nvSpPr>
        <p:spPr>
          <a:xfrm>
            <a:off x="6809200" y="2667350"/>
            <a:ext cx="1946700" cy="572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10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6"/>
          </p:nvPr>
        </p:nvSpPr>
        <p:spPr>
          <a:xfrm>
            <a:off x="6809200" y="3234900"/>
            <a:ext cx="1946700" cy="66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1pPr>
            <a:lvl2pPr marL="914400" lvl="1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2pPr>
            <a:lvl3pPr marL="1371600" lvl="2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6pPr>
            <a:lvl7pPr marL="3200400" lvl="6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●"/>
              <a:defRPr sz="800">
                <a:latin typeface="Lustria"/>
                <a:ea typeface="Lustria"/>
                <a:cs typeface="Lustria"/>
                <a:sym typeface="Lustria"/>
              </a:defRPr>
            </a:lvl7pPr>
            <a:lvl8pPr marL="3657600" lvl="7" indent="-279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Lustria"/>
              <a:buChar char="○"/>
              <a:defRPr sz="800">
                <a:latin typeface="Lustria"/>
                <a:ea typeface="Lustria"/>
                <a:cs typeface="Lustria"/>
                <a:sym typeface="Lustria"/>
              </a:defRPr>
            </a:lvl8pPr>
            <a:lvl9pPr marL="4114800" lvl="8" indent="-2794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Font typeface="Lustria"/>
              <a:buChar char="■"/>
              <a:defRPr sz="800"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/>
          <p:nvPr/>
        </p:nvSpPr>
        <p:spPr>
          <a:xfrm>
            <a:off x="0" y="0"/>
            <a:ext cx="4214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l="259" r="-3993"/>
          <a:stretch/>
        </p:blipFill>
        <p:spPr>
          <a:xfrm>
            <a:off x="388400" y="4896300"/>
            <a:ext cx="975549" cy="13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Full – Dark Green">
  <p:cSld name="CUSTOM_7">
    <p:bg>
      <p:bgPr>
        <a:solidFill>
          <a:schemeClr val="accent5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title"/>
          </p:nvPr>
        </p:nvSpPr>
        <p:spPr>
          <a:xfrm>
            <a:off x="388400" y="943700"/>
            <a:ext cx="4575900" cy="172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pic>
        <p:nvPicPr>
          <p:cNvPr id="83" name="Google Shape;8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399" y="4648213"/>
            <a:ext cx="933849" cy="2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Full – Dark Green - Centered">
  <p:cSld name="CUSTOM_7_1">
    <p:bg>
      <p:bgPr>
        <a:solidFill>
          <a:schemeClr val="accent5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2284050" y="1995150"/>
            <a:ext cx="4575900" cy="115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Font typeface="DM Sans Medium"/>
              <a:buNone/>
              <a:defRPr sz="52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pic>
        <p:nvPicPr>
          <p:cNvPr id="86" name="Google Shape;8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05074" y="4648213"/>
            <a:ext cx="933849" cy="28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itle">
  <p:cSld name="TITL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8400" y="382350"/>
            <a:ext cx="8367300" cy="5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None/>
              <a:defRPr sz="1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8400" y="1271025"/>
            <a:ext cx="8367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lvl="3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lvl="4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lvl="5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lvl="6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lvl="7" indent="-2921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lvl="8" indent="-2921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45">
          <p15:clr>
            <a:srgbClr val="EA4335"/>
          </p15:clr>
        </p15:guide>
        <p15:guide id="2" pos="5515">
          <p15:clr>
            <a:srgbClr val="EA4335"/>
          </p15:clr>
        </p15:guide>
        <p15:guide id="3" orient="horz" pos="241">
          <p15:clr>
            <a:srgbClr val="EA4335"/>
          </p15:clr>
        </p15:guide>
        <p15:guide id="4" orient="horz" pos="2999">
          <p15:clr>
            <a:srgbClr val="EA4335"/>
          </p15:clr>
        </p15:guide>
        <p15:guide id="5" pos="576">
          <p15:clr>
            <a:srgbClr val="EA4335"/>
          </p15:clr>
        </p15:guide>
        <p15:guide id="6" pos="692">
          <p15:clr>
            <a:srgbClr val="EA4335"/>
          </p15:clr>
        </p15:guide>
        <p15:guide id="7" pos="1139">
          <p15:clr>
            <a:srgbClr val="EA4335"/>
          </p15:clr>
        </p15:guide>
        <p15:guide id="8" pos="1030">
          <p15:clr>
            <a:srgbClr val="EA4335"/>
          </p15:clr>
        </p15:guide>
        <p15:guide id="9" pos="1484">
          <p15:clr>
            <a:srgbClr val="EA4335"/>
          </p15:clr>
        </p15:guide>
        <p15:guide id="10" pos="1930">
          <p15:clr>
            <a:srgbClr val="EA4335"/>
          </p15:clr>
        </p15:guide>
        <p15:guide id="11" pos="1586">
          <p15:clr>
            <a:srgbClr val="EA4335"/>
          </p15:clr>
        </p15:guide>
        <p15:guide id="12" pos="2045">
          <p15:clr>
            <a:srgbClr val="EA4335"/>
          </p15:clr>
        </p15:guide>
        <p15:guide id="13" pos="2376">
          <p15:clr>
            <a:srgbClr val="EA4335"/>
          </p15:clr>
        </p15:guide>
        <p15:guide id="14" pos="2496">
          <p15:clr>
            <a:srgbClr val="EA4335"/>
          </p15:clr>
        </p15:guide>
        <p15:guide id="15" pos="2824">
          <p15:clr>
            <a:srgbClr val="EA4335"/>
          </p15:clr>
        </p15:guide>
        <p15:guide id="16" pos="5186">
          <p15:clr>
            <a:srgbClr val="EA4335"/>
          </p15:clr>
        </p15:guide>
        <p15:guide id="17" pos="5073">
          <p15:clr>
            <a:srgbClr val="EA4335"/>
          </p15:clr>
        </p15:guide>
        <p15:guide id="18" pos="4735">
          <p15:clr>
            <a:srgbClr val="EA4335"/>
          </p15:clr>
        </p15:guide>
        <p15:guide id="19" pos="4617">
          <p15:clr>
            <a:srgbClr val="EA4335"/>
          </p15:clr>
        </p15:guide>
        <p15:guide id="20" pos="4289">
          <p15:clr>
            <a:srgbClr val="EA4335"/>
          </p15:clr>
        </p15:guide>
        <p15:guide id="21" pos="4177">
          <p15:clr>
            <a:srgbClr val="EA4335"/>
          </p15:clr>
        </p15:guide>
        <p15:guide id="22" pos="2941">
          <p15:clr>
            <a:srgbClr val="EA4335"/>
          </p15:clr>
        </p15:guide>
        <p15:guide id="23" pos="3275">
          <p15:clr>
            <a:srgbClr val="EA4335"/>
          </p15:clr>
        </p15:guide>
        <p15:guide id="24" pos="3387">
          <p15:clr>
            <a:srgbClr val="EA4335"/>
          </p15:clr>
        </p15:guide>
        <p15:guide id="25" pos="3720">
          <p15:clr>
            <a:srgbClr val="EA4335"/>
          </p15:clr>
        </p15:guide>
        <p15:guide id="26" pos="3833">
          <p15:clr>
            <a:srgbClr val="EA4335"/>
          </p15:clr>
        </p15:guide>
        <p15:guide id="27" orient="horz" pos="594">
          <p15:clr>
            <a:srgbClr val="EA4335"/>
          </p15:clr>
        </p15:guide>
        <p15:guide id="28" orient="horz" pos="1566">
          <p15:clr>
            <a:srgbClr val="EA4335"/>
          </p15:clr>
        </p15:guide>
        <p15:guide id="29" orient="horz" pos="1680">
          <p15:clr>
            <a:srgbClr val="EA4335"/>
          </p15:clr>
        </p15:guide>
        <p15:guide id="30" orient="horz" pos="697">
          <p15:clr>
            <a:srgbClr val="EA4335"/>
          </p15:clr>
        </p15:guide>
        <p15:guide id="31" orient="horz" pos="80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s.gov/medicare/provider-enrollment-and-certification/guidanceforlawsandregulations/downloads/appendix-pp-state-operations-manual.pdf?utm_source=chatgpt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s.gov/medicare/provider-enrollment-and-certification/guidanceforlawsandregulations/downloads/appendix-pp-state-operations-manual.pdf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s.gov/medicare/provider-enrollment-and-certification/guidanceforlawsandregulations/downloads/appendix-pp-state-operations-manual.pdf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ms.gov/medicare/provider-enrollment-and-certification/guidanceforlawsandregulations/downloads/appendix-pp-state-operations-manual.pdf?utm_source=chatgpt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1" y="1051560"/>
            <a:ext cx="7271203" cy="2331720"/>
          </a:xfrm>
          <a:prstGeom prst="roundRect">
            <a:avLst/>
          </a:prstGeom>
          <a:solidFill>
            <a:srgbClr val="EBF6F1"/>
          </a:solidFill>
          <a:ln>
            <a:solidFill>
              <a:srgbClr val="EB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omas_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185" y="128015"/>
            <a:ext cx="643083" cy="6430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19188" y="4343400"/>
            <a:ext cx="35661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dirty="0">
                <a:solidFill>
                  <a:srgbClr val="5B9D83"/>
                </a:solidFill>
                <a:latin typeface="Aptos"/>
              </a:rPr>
              <a:t>THE DOMAS GROUP LLC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417320"/>
            <a:ext cx="5486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222D3A"/>
                </a:solidFill>
                <a:latin typeface="Aptos"/>
              </a:rPr>
              <a:t>Healthcare Operations Benchmarking Case Study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30552"/>
            <a:ext cx="1188720" cy="508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31720"/>
            <a:ext cx="5669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30" b="0">
                <a:solidFill>
                  <a:srgbClr val="222D3A"/>
                </a:solidFill>
                <a:latin typeface="Aptos"/>
              </a:rPr>
              <a:t>Anonymized data workflow, benchmarking, and risk-monitoring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7" y="2743200"/>
            <a:ext cx="6627677" cy="44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 dirty="0">
                <a:solidFill>
                  <a:srgbClr val="626B75"/>
                </a:solidFill>
                <a:latin typeface="Aptos"/>
              </a:rPr>
              <a:t>A portfolio example showing how structured data rules and benchmarking can support operational review and decision-making.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C438B73-8B16-1235-4730-4F7AB07A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C900AD21-66BE-1B92-A0CF-B3A617EE66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50"/>
            <a:ext cx="8458057" cy="8431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Objectives</a:t>
            </a:r>
            <a:endParaRPr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2408C9-A71A-9118-FF93-DC9A28A9761D}"/>
              </a:ext>
            </a:extLst>
          </p:cNvPr>
          <p:cNvSpPr txBox="1"/>
          <p:nvPr/>
        </p:nvSpPr>
        <p:spPr>
          <a:xfrm>
            <a:off x="388399" y="1934835"/>
            <a:ext cx="84580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Lora" pitchFamily="2" charset="0"/>
              </a:rPr>
              <a:t>Provide actionable insights and flag communities needing closer observation.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Lora" pitchFamily="2" charset="0"/>
              </a:rPr>
              <a:t>Establish analytic benchmarks and hypotheses to guide ongoing risk monitoring and improvement.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43091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0B26AFC-EEB6-8017-E3B3-366A8926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CB55CC-4BF2-E900-12B7-B1FA59034E7A}"/>
              </a:ext>
            </a:extLst>
          </p:cNvPr>
          <p:cNvSpPr txBox="1"/>
          <p:nvPr/>
        </p:nvSpPr>
        <p:spPr>
          <a:xfrm>
            <a:off x="365760" y="2252975"/>
            <a:ext cx="8303114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rgbClr val="222D3A"/>
                </a:solidFill>
                <a:latin typeface="Lora" pitchFamily="2" charset="0"/>
              </a:rPr>
              <a:t>Key Business Rules Applied: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Each weight record represents a single, valid measurement per resident per 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Implausible weights (&lt; 70 </a:t>
            </a:r>
            <a:r>
              <a:rPr lang="en-US" sz="1300" dirty="0" err="1">
                <a:solidFill>
                  <a:srgbClr val="222D3A"/>
                </a:solidFill>
                <a:latin typeface="Lora" pitchFamily="2" charset="0"/>
              </a:rPr>
              <a:t>lbs</a:t>
            </a: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 / &gt; 450 </a:t>
            </a:r>
            <a:r>
              <a:rPr lang="en-US" sz="1300" dirty="0" err="1">
                <a:solidFill>
                  <a:srgbClr val="222D3A"/>
                </a:solidFill>
                <a:latin typeface="Lora" pitchFamily="2" charset="0"/>
              </a:rPr>
              <a:t>lbs</a:t>
            </a: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) were excluded to ensure realistic clinical ranges.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Only the most recent weight per day was retained for accurate trend modeling.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Monitoring intervals and threshold events (±5 % / ±10 %) were calculated consistently across communities.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Fall-related incidents were isolated using a standardized ‘</a:t>
            </a:r>
            <a:r>
              <a:rPr lang="en-US" sz="1300" dirty="0" err="1">
                <a:solidFill>
                  <a:srgbClr val="222D3A"/>
                </a:solidFill>
                <a:latin typeface="Lora" pitchFamily="2" charset="0"/>
              </a:rPr>
              <a:t>is_fall</a:t>
            </a: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’ flag.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Days-between events were calculated per resident, then summarized using resident-median → global median.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Repeat-fall rates were based on the minimum interval between consecutive falls.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222D3A"/>
                </a:solidFill>
                <a:latin typeface="Lora" pitchFamily="2" charset="0"/>
              </a:rPr>
              <a:t>Community-level rates (e.g., incidents per 100 residents) were normalized using unique resident counts.</a:t>
            </a:r>
          </a:p>
          <a:p>
            <a:endParaRPr lang="en-US" sz="1300" dirty="0">
              <a:latin typeface="Lora" pitchFamily="2" charset="0"/>
            </a:endParaRPr>
          </a:p>
        </p:txBody>
      </p:sp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C4AAFB7C-2B80-8E66-971B-22A6838DFB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50"/>
            <a:ext cx="8458057" cy="84313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Data Overview</a:t>
            </a:r>
            <a:endParaRPr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CB2539-4537-C9FC-5C48-974972E9C6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237314"/>
              </p:ext>
            </p:extLst>
          </p:nvPr>
        </p:nvGraphicFramePr>
        <p:xfrm>
          <a:off x="452487" y="1225486"/>
          <a:ext cx="7826540" cy="914400"/>
        </p:xfrm>
        <a:graphic>
          <a:graphicData uri="http://schemas.openxmlformats.org/drawingml/2006/table">
            <a:tbl>
              <a:tblPr firstRow="1" bandRow="1">
                <a:tableStyleId>{506B5915-A98E-4E56-8D00-E4F5FFEB1B49}</a:tableStyleId>
              </a:tblPr>
              <a:tblGrid>
                <a:gridCol w="1197492">
                  <a:extLst>
                    <a:ext uri="{9D8B030D-6E8A-4147-A177-3AD203B41FA5}">
                      <a16:colId xmlns:a16="http://schemas.microsoft.com/office/drawing/2014/main" val="2703834180"/>
                    </a:ext>
                  </a:extLst>
                </a:gridCol>
                <a:gridCol w="1516160">
                  <a:extLst>
                    <a:ext uri="{9D8B030D-6E8A-4147-A177-3AD203B41FA5}">
                      <a16:colId xmlns:a16="http://schemas.microsoft.com/office/drawing/2014/main" val="1079218220"/>
                    </a:ext>
                  </a:extLst>
                </a:gridCol>
                <a:gridCol w="5112888">
                  <a:extLst>
                    <a:ext uri="{9D8B030D-6E8A-4147-A177-3AD203B41FA5}">
                      <a16:colId xmlns:a16="http://schemas.microsoft.com/office/drawing/2014/main" val="122366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Lora" pitchFamily="2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Lora" pitchFamily="2" charset="0"/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Lora" pitchFamily="2" charset="0"/>
                        </a:rPr>
                        <a:t>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033070"/>
                  </a:ext>
                </a:extLst>
              </a:tr>
              <a:tr h="124883">
                <a:tc>
                  <a:txBody>
                    <a:bodyPr/>
                    <a:lstStyle/>
                    <a:p>
                      <a:r>
                        <a:rPr lang="en-US" dirty="0">
                          <a:latin typeface="Lora" pitchFamily="2" charset="0"/>
                        </a:rPr>
                        <a:t>Weights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ora" pitchFamily="2" charset="0"/>
                        </a:rPr>
                        <a:t>Time-series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ora" pitchFamily="2" charset="0"/>
                        </a:rPr>
                        <a:t>De-identified event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831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latin typeface="Lora" pitchFamily="2" charset="0"/>
                        </a:rPr>
                        <a:t>Falls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ora" pitchFamily="2" charset="0"/>
                        </a:rPr>
                        <a:t>Event-based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Lora" pitchFamily="2" charset="0"/>
                        </a:rPr>
                        <a:t>De-identified incident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890243"/>
                  </a:ext>
                </a:extLst>
              </a:tr>
            </a:tbl>
          </a:graphicData>
        </a:graphic>
      </p:graphicFrame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5143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78F7BFB-9D5F-CED6-3337-04BE39DB2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C2AA2106-DEE5-EBAD-A560-61AD2CF177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Discovery - Weight</a:t>
            </a:r>
            <a:endParaRPr sz="2000" b="1" dirty="0"/>
          </a:p>
        </p:txBody>
      </p:sp>
      <p:sp>
        <p:nvSpPr>
          <p:cNvPr id="11" name="Google Shape;149;p27">
            <a:extLst>
              <a:ext uri="{FF2B5EF4-FFF2-40B4-BE49-F238E27FC236}">
                <a16:creationId xmlns:a16="http://schemas.microsoft.com/office/drawing/2014/main" id="{F5B77B37-F329-0910-6189-25A5BE1178AB}"/>
              </a:ext>
            </a:extLst>
          </p:cNvPr>
          <p:cNvSpPr txBox="1">
            <a:spLocks/>
          </p:cNvSpPr>
          <p:nvPr/>
        </p:nvSpPr>
        <p:spPr>
          <a:xfrm>
            <a:off x="388399" y="4761151"/>
            <a:ext cx="8458057" cy="28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None/>
              <a:defRPr sz="18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r>
              <a:rPr lang="en-US" sz="800" baseline="30000" dirty="0">
                <a:latin typeface="Lora" pitchFamily="2" charset="0"/>
              </a:rPr>
              <a:t>1 </a:t>
            </a:r>
            <a:r>
              <a:rPr lang="en-US" sz="700" dirty="0"/>
              <a:t>Centers for Medicare &amp; Medicaid Services. </a:t>
            </a:r>
            <a:r>
              <a:rPr lang="en-US" sz="700" i="1" dirty="0"/>
              <a:t>State Operations Manual: Appendix PP – Guidance to Surveyors for Long Term Care Facilities</a:t>
            </a:r>
            <a:r>
              <a:rPr lang="en-US" sz="700" dirty="0"/>
              <a:t>. Rev. 173, November 22, 2017. Accessed November 11, 2025. </a:t>
            </a:r>
            <a:r>
              <a:rPr lang="en-US" sz="700" dirty="0">
                <a:hlinkClick r:id="rId3"/>
              </a:rPr>
              <a:t>https://www.cms.gov/medicare/provider-enrollment-and-certification/guidanceforlawsandregulations/downloads/appendix-pp-state-operations-manual.pdf</a:t>
            </a:r>
            <a:endParaRPr lang="en-US" sz="700" b="1" i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2A4BD5-8BDA-D774-54C4-AC15B43C36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7089371"/>
              </p:ext>
            </p:extLst>
          </p:nvPr>
        </p:nvGraphicFramePr>
        <p:xfrm>
          <a:off x="388938" y="1293876"/>
          <a:ext cx="8457518" cy="3383280"/>
        </p:xfrm>
        <a:graphic>
          <a:graphicData uri="http://schemas.openxmlformats.org/drawingml/2006/table">
            <a:tbl>
              <a:tblPr>
                <a:tableStyleId>{506B5915-A98E-4E56-8D00-E4F5FFEB1B49}</a:tableStyleId>
              </a:tblPr>
              <a:tblGrid>
                <a:gridCol w="225392">
                  <a:extLst>
                    <a:ext uri="{9D8B030D-6E8A-4147-A177-3AD203B41FA5}">
                      <a16:colId xmlns:a16="http://schemas.microsoft.com/office/drawing/2014/main" val="675412286"/>
                    </a:ext>
                  </a:extLst>
                </a:gridCol>
                <a:gridCol w="1881735">
                  <a:extLst>
                    <a:ext uri="{9D8B030D-6E8A-4147-A177-3AD203B41FA5}">
                      <a16:colId xmlns:a16="http://schemas.microsoft.com/office/drawing/2014/main" val="2662057736"/>
                    </a:ext>
                  </a:extLst>
                </a:gridCol>
                <a:gridCol w="3179805">
                  <a:extLst>
                    <a:ext uri="{9D8B030D-6E8A-4147-A177-3AD203B41FA5}">
                      <a16:colId xmlns:a16="http://schemas.microsoft.com/office/drawing/2014/main" val="2380589085"/>
                    </a:ext>
                  </a:extLst>
                </a:gridCol>
                <a:gridCol w="3170586">
                  <a:extLst>
                    <a:ext uri="{9D8B030D-6E8A-4147-A177-3AD203B41FA5}">
                      <a16:colId xmlns:a16="http://schemas.microsoft.com/office/drawing/2014/main" val="2038069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1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Benchmark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Lora" pitchFamily="2" charset="0"/>
                        </a:rPr>
                        <a:t>What It Captures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Why It 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85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% of Residents with ≥ 1 Weight-Change Event (≥ ±5 % / 30 d or ± 10 % / 180 d)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Prevalence of residents showing clinically meaningful change in body weight.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Signals the proportion of residents potentially at nutritional or health risk; high values may indicate unstable populations or measurement inconsistency.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676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Weight-Change Events per 100 Residents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Frequency of threshold-crossing events normalized to population size.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Allows comparison across communities regardless of census; rising rates suggest recurring instability among monitored residents.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347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Median Days Between Weigh-Ins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Typical cadence of resident weight monitoring.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Reflects adherence to expected monitoring schedules; longer intervals reduce ability to detect early risk.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377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% Residents with &gt; 30 Days Between Weigh-Ins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Share of residents exceeding recommended weigh-in frequency.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Highlights monitoring gaps that may delay detection of weight-related health decline or safety risk.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7322168"/>
                  </a:ext>
                </a:extLst>
              </a:tr>
            </a:tbl>
          </a:graphicData>
        </a:graphic>
      </p:graphicFrame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84740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0CAAA26-2F5F-AD7D-8645-DEBFEA73A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417EAA29-BDEB-D1F5-F94F-EEDA0D2499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Discovery - Weight</a:t>
            </a:r>
            <a:endParaRPr sz="2000" b="1" dirty="0"/>
          </a:p>
        </p:txBody>
      </p:sp>
      <p:sp>
        <p:nvSpPr>
          <p:cNvPr id="11" name="Google Shape;149;p27">
            <a:extLst>
              <a:ext uri="{FF2B5EF4-FFF2-40B4-BE49-F238E27FC236}">
                <a16:creationId xmlns:a16="http://schemas.microsoft.com/office/drawing/2014/main" id="{EBEE550A-D598-CDF0-07EA-295A5CF8D194}"/>
              </a:ext>
            </a:extLst>
          </p:cNvPr>
          <p:cNvSpPr txBox="1">
            <a:spLocks/>
          </p:cNvSpPr>
          <p:nvPr/>
        </p:nvSpPr>
        <p:spPr>
          <a:xfrm>
            <a:off x="388399" y="4761151"/>
            <a:ext cx="8458057" cy="28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None/>
              <a:defRPr sz="18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r>
              <a:rPr lang="en-US" sz="800" baseline="30000" dirty="0">
                <a:latin typeface="Lora" pitchFamily="2" charset="0"/>
              </a:rPr>
              <a:t>1 </a:t>
            </a:r>
            <a:r>
              <a:rPr lang="en-US" sz="700" dirty="0"/>
              <a:t>Centers for Medicare &amp; Medicaid Services. </a:t>
            </a:r>
            <a:r>
              <a:rPr lang="en-US" sz="700" i="1" dirty="0"/>
              <a:t>State Operations Manual: Appendix PP – Guidance to Surveyors for Long Term Care Facilities</a:t>
            </a:r>
            <a:r>
              <a:rPr lang="en-US" sz="700" dirty="0"/>
              <a:t>. Rev. 173, November 22, 2017. Accessed November 11, 2025. </a:t>
            </a:r>
            <a:r>
              <a:rPr lang="en-US" sz="700" dirty="0">
                <a:hlinkClick r:id="rId3"/>
              </a:rPr>
              <a:t>https://www.cms.gov/medicare/provider-enrollment-and-certification/guidanceforlawsandregulations/downloads/appendix-pp-state-operations-manual.pdf</a:t>
            </a:r>
            <a:endParaRPr lang="en-US" sz="700" b="1" i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9AA48D-D240-C80F-4AFE-46B6F9421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965248"/>
              </p:ext>
            </p:extLst>
          </p:nvPr>
        </p:nvGraphicFramePr>
        <p:xfrm>
          <a:off x="388399" y="1191653"/>
          <a:ext cx="8501863" cy="3415304"/>
        </p:xfrm>
        <a:graphic>
          <a:graphicData uri="http://schemas.openxmlformats.org/drawingml/2006/table">
            <a:tbl>
              <a:tblPr>
                <a:tableStyleId>{506B5915-A98E-4E56-8D00-E4F5FFEB1B49}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75412286"/>
                    </a:ext>
                  </a:extLst>
                </a:gridCol>
                <a:gridCol w="1749472">
                  <a:extLst>
                    <a:ext uri="{9D8B030D-6E8A-4147-A177-3AD203B41FA5}">
                      <a16:colId xmlns:a16="http://schemas.microsoft.com/office/drawing/2014/main" val="2662057736"/>
                    </a:ext>
                  </a:extLst>
                </a:gridCol>
                <a:gridCol w="1990641">
                  <a:extLst>
                    <a:ext uri="{9D8B030D-6E8A-4147-A177-3AD203B41FA5}">
                      <a16:colId xmlns:a16="http://schemas.microsoft.com/office/drawing/2014/main" val="2380589085"/>
                    </a:ext>
                  </a:extLst>
                </a:gridCol>
                <a:gridCol w="3455299">
                  <a:extLst>
                    <a:ext uri="{9D8B030D-6E8A-4147-A177-3AD203B41FA5}">
                      <a16:colId xmlns:a16="http://schemas.microsoft.com/office/drawing/2014/main" val="2038069971"/>
                    </a:ext>
                  </a:extLst>
                </a:gridCol>
                <a:gridCol w="1098171">
                  <a:extLst>
                    <a:ext uri="{9D8B030D-6E8A-4147-A177-3AD203B41FA5}">
                      <a16:colId xmlns:a16="http://schemas.microsoft.com/office/drawing/2014/main" val="380426003"/>
                    </a:ext>
                  </a:extLst>
                </a:gridCol>
              </a:tblGrid>
              <a:tr h="19730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1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Benchmark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What It Captures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Why It Matters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Current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85176"/>
                  </a:ext>
                </a:extLst>
              </a:tr>
              <a:tr h="854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% of Residents with ≥ 1 Weight-Change Event (≥ ±5 % / 30 d or ± 10 % / 180 d)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Prevalence of residents showing clinically meaningful change in body weight.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Signals the proportion of residents potentially at nutritional or health risk; high values may indicate unstable populations or measurement inconsistency.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12713" indent="0"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Redacted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514676396"/>
                  </a:ext>
                </a:extLst>
              </a:tr>
              <a:tr h="723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Weight-Change Events per 100 Residents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Frequency of threshold-crossing events normalized to population size.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Allows comparison across communities regardless of census; rising rates suggest recurring instability among monitored residents.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12713" indent="0"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Redacted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993347602"/>
                  </a:ext>
                </a:extLst>
              </a:tr>
              <a:tr h="591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Median Days Between Weigh-Ins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Typical cadence of resident weight monitoring.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Reflects adherence to expected monitoring schedules; longer intervals reduce ability to detect early risk.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12713" indent="0"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Redacted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868377279"/>
                  </a:ext>
                </a:extLst>
              </a:tr>
              <a:tr h="591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% Residents with &gt; 30 Days Between Weigh-Ins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Share of residents exceeding recommended weigh-in frequency.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Highlights monitoring gaps that may delay detection of weight-related health decline or safety risk.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12713" indent="0"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Redacted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107322168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8B1E328-1D5D-3838-9B94-6C8A2F810635}"/>
              </a:ext>
            </a:extLst>
          </p:cNvPr>
          <p:cNvSpPr/>
          <p:nvPr/>
        </p:nvSpPr>
        <p:spPr>
          <a:xfrm>
            <a:off x="7836713" y="944685"/>
            <a:ext cx="987247" cy="3738520"/>
          </a:xfrm>
          <a:prstGeom prst="rect">
            <a:avLst/>
          </a:prstGeom>
          <a:noFill/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186695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442DA09-B3DC-CF06-A92C-F41AFF56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49;p27">
            <a:extLst>
              <a:ext uri="{FF2B5EF4-FFF2-40B4-BE49-F238E27FC236}">
                <a16:creationId xmlns:a16="http://schemas.microsoft.com/office/drawing/2014/main" id="{B196141F-D9A4-0E74-FF01-77A61072E7EE}"/>
              </a:ext>
            </a:extLst>
          </p:cNvPr>
          <p:cNvSpPr txBox="1">
            <a:spLocks/>
          </p:cNvSpPr>
          <p:nvPr/>
        </p:nvSpPr>
        <p:spPr>
          <a:xfrm>
            <a:off x="388399" y="4761151"/>
            <a:ext cx="8458057" cy="28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None/>
              <a:defRPr sz="18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r>
              <a:rPr lang="en-US" sz="800" baseline="30000" dirty="0">
                <a:latin typeface="Lora" pitchFamily="2" charset="0"/>
              </a:rPr>
              <a:t>1 </a:t>
            </a:r>
            <a:r>
              <a:rPr lang="en-US" sz="700" dirty="0"/>
              <a:t>Centers for Medicare &amp; Medicaid Services. </a:t>
            </a:r>
            <a:r>
              <a:rPr lang="en-US" sz="700" i="1" dirty="0"/>
              <a:t>State Operations Manual: Appendix PP – Guidance to Surveyors for Long Term Care Facilities</a:t>
            </a:r>
            <a:r>
              <a:rPr lang="en-US" sz="700" dirty="0"/>
              <a:t>. Rev. 173, November 22, 2017. Accessed November 11, 2025. </a:t>
            </a:r>
            <a:r>
              <a:rPr lang="en-US" sz="700" dirty="0">
                <a:hlinkClick r:id="rId3"/>
              </a:rPr>
              <a:t>https://www.cms.gov/medicare/provider-enrollment-and-certification/guidanceforlawsandregulations/downloads/appendix-pp-state-operations-manual.pdf</a:t>
            </a:r>
            <a:endParaRPr lang="en-US" sz="700" b="1" i="1" dirty="0"/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88A2D02F-9F2C-625C-1B98-AA7D595D4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19" y="877824"/>
            <a:ext cx="6995160" cy="3767328"/>
          </a:xfrm>
          <a:prstGeom prst="rect">
            <a:avLst/>
          </a:prstGeom>
        </p:spPr>
      </p:pic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1C02F5FD-DBA0-6347-99AE-021072ECBCA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1</a:t>
            </a:r>
            <a:endParaRPr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828E0D-EAC3-F50C-B193-E2FDED6CF8B4}"/>
              </a:ext>
            </a:extLst>
          </p:cNvPr>
          <p:cNvSpPr txBox="1"/>
          <p:nvPr/>
        </p:nvSpPr>
        <p:spPr>
          <a:xfrm>
            <a:off x="256032" y="1110996"/>
            <a:ext cx="1508760" cy="35661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latin typeface="Arial"/>
              </a:rPr>
              <a:t>A subset of communities showed increases in the proportion of residents with clinically meaningful weight-change events, flagging areas for closer monitoring and data-quality review.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73966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953632D-9D8A-C3E1-C587-A1B6F2B6F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B72F4DEF-F790-D65A-518B-0CA3C2CBE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877824"/>
            <a:ext cx="6995160" cy="3767328"/>
          </a:xfrm>
          <a:prstGeom prst="rect">
            <a:avLst/>
          </a:prstGeom>
        </p:spPr>
      </p:pic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0EBE5196-34FA-56E3-B03C-1C1FF39ED57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2</a:t>
            </a:r>
            <a:endParaRPr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8C102B-0847-F17E-8243-76D3C232F941}"/>
              </a:ext>
            </a:extLst>
          </p:cNvPr>
          <p:cNvSpPr txBox="1"/>
          <p:nvPr/>
        </p:nvSpPr>
        <p:spPr>
          <a:xfrm>
            <a:off x="256032" y="1110996"/>
            <a:ext cx="1508760" cy="35661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latin typeface="Arial"/>
              </a:rPr>
              <a:t>Event frequency varied across communities after normalizing by resident count, helping distinguish broad resident involvement from repeated events among smaller groups of residents.</a:t>
            </a:r>
            <a:endParaRPr lang="en-US" sz="1000" dirty="0">
              <a:latin typeface="Lora" pitchFamily="2" charset="0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4279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5AC5968-FF50-19E5-A600-9E623712A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AF0E7FDB-8910-9DFF-4869-5DBE770EBE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3</a:t>
            </a:r>
            <a:endParaRPr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371B62-3A38-707E-846B-BF73523823A6}"/>
              </a:ext>
            </a:extLst>
          </p:cNvPr>
          <p:cNvSpPr txBox="1"/>
          <p:nvPr/>
        </p:nvSpPr>
        <p:spPr>
          <a:xfrm>
            <a:off x="256032" y="1110996"/>
            <a:ext cx="1508760" cy="356616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>
                <a:latin typeface="Arial"/>
              </a:rPr>
              <a:t>Several communities showed longer intervals between weigh-ins, potentially delaying detection of early weight changes and weakening routine monitoring cadence.</a:t>
            </a:r>
            <a:endParaRPr lang="en-US" sz="1000" dirty="0">
              <a:latin typeface="Lora" pitchFamily="2" charset="0"/>
            </a:endParaRP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AED2E32-FBF4-07DF-F11F-3E3CB5535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19" y="877824"/>
            <a:ext cx="6995160" cy="3767328"/>
          </a:xfrm>
          <a:prstGeom prst="rect">
            <a:avLst/>
          </a:prstGeom>
        </p:spPr>
      </p:pic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20229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CBFD8AC-C8FC-2DC7-ECBF-293612F00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81C1BBFF-6A79-F784-51D4-96872D90FB3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4</a:t>
            </a:r>
            <a:endParaRPr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E38828-E247-5589-B8DE-A02718D523DC}"/>
              </a:ext>
            </a:extLst>
          </p:cNvPr>
          <p:cNvSpPr txBox="1"/>
          <p:nvPr/>
        </p:nvSpPr>
        <p:spPr>
          <a:xfrm>
            <a:off x="190871" y="1155143"/>
            <a:ext cx="1362722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latin typeface="Arial"/>
              </a:rPr>
              <a:t>Many communities had residents exceeding the expected monthly weigh-in cadence, underscoring the risk of missed early warning signs when monitoring frequency declines.</a:t>
            </a:r>
            <a:endParaRPr lang="en-US" sz="1300" dirty="0">
              <a:latin typeface="Lora" pitchFamily="2" charset="0"/>
            </a:endParaRPr>
          </a:p>
        </p:txBody>
      </p:sp>
      <p:pic>
        <p:nvPicPr>
          <p:cNvPr id="3" name="Picture 2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373DF702-7169-453D-AB41-A3DA2586F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593" y="557560"/>
            <a:ext cx="7590407" cy="4119596"/>
          </a:xfrm>
          <a:prstGeom prst="rect">
            <a:avLst/>
          </a:prstGeom>
        </p:spPr>
      </p:pic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303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D21109E-70AC-C6E0-E48B-27AA23B89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CD633046-67A8-DC87-2409-76664A1644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Discovery - Incidents</a:t>
            </a:r>
            <a:endParaRPr sz="2000" b="1" dirty="0"/>
          </a:p>
        </p:txBody>
      </p:sp>
      <p:sp>
        <p:nvSpPr>
          <p:cNvPr id="11" name="Google Shape;149;p27">
            <a:extLst>
              <a:ext uri="{FF2B5EF4-FFF2-40B4-BE49-F238E27FC236}">
                <a16:creationId xmlns:a16="http://schemas.microsoft.com/office/drawing/2014/main" id="{531A8C33-8BB9-6CC6-9337-C6BB60C8A15A}"/>
              </a:ext>
            </a:extLst>
          </p:cNvPr>
          <p:cNvSpPr txBox="1">
            <a:spLocks/>
          </p:cNvSpPr>
          <p:nvPr/>
        </p:nvSpPr>
        <p:spPr>
          <a:xfrm>
            <a:off x="388399" y="4761151"/>
            <a:ext cx="8458057" cy="281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ora"/>
              <a:buNone/>
              <a:defRPr sz="1800" b="0" i="0" u="none" strike="noStrike" cap="none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ans Medium"/>
              <a:buNone/>
              <a:defRPr sz="2800" b="0" i="0" u="none" strike="noStrike" cap="none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r>
              <a:rPr lang="en-US" sz="800" baseline="30000" dirty="0">
                <a:latin typeface="Lora" pitchFamily="2" charset="0"/>
              </a:rPr>
              <a:t>1 </a:t>
            </a:r>
            <a:r>
              <a:rPr lang="en-US" sz="700" dirty="0"/>
              <a:t>Centers for Medicare &amp; Medicaid Services. </a:t>
            </a:r>
            <a:r>
              <a:rPr lang="en-US" sz="700" i="1" dirty="0"/>
              <a:t>State Operations Manual: Appendix PP – Guidance to Surveyors for Long Term Care Facilities</a:t>
            </a:r>
            <a:r>
              <a:rPr lang="en-US" sz="700" dirty="0"/>
              <a:t>. Rev. 173, November 22, 2017. Accessed November 11, 2025. </a:t>
            </a:r>
            <a:r>
              <a:rPr lang="en-US" sz="700" dirty="0">
                <a:hlinkClick r:id="rId3"/>
              </a:rPr>
              <a:t>https://www.cms.gov/medicare/provider-enrollment-and-certification/guidanceforlawsandregulations/downloads/appendix-pp-state-operations-manual.pdf</a:t>
            </a:r>
            <a:endParaRPr lang="en-US" sz="700" b="1" i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34DD09-406F-8215-DC72-3A54FDDE2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530077"/>
              </p:ext>
            </p:extLst>
          </p:nvPr>
        </p:nvGraphicFramePr>
        <p:xfrm>
          <a:off x="343241" y="1245870"/>
          <a:ext cx="8457518" cy="2651760"/>
        </p:xfrm>
        <a:graphic>
          <a:graphicData uri="http://schemas.openxmlformats.org/drawingml/2006/table">
            <a:tbl>
              <a:tblPr>
                <a:tableStyleId>{506B5915-A98E-4E56-8D00-E4F5FFEB1B49}</a:tableStyleId>
              </a:tblPr>
              <a:tblGrid>
                <a:gridCol w="225392">
                  <a:extLst>
                    <a:ext uri="{9D8B030D-6E8A-4147-A177-3AD203B41FA5}">
                      <a16:colId xmlns:a16="http://schemas.microsoft.com/office/drawing/2014/main" val="675412286"/>
                    </a:ext>
                  </a:extLst>
                </a:gridCol>
                <a:gridCol w="2326578">
                  <a:extLst>
                    <a:ext uri="{9D8B030D-6E8A-4147-A177-3AD203B41FA5}">
                      <a16:colId xmlns:a16="http://schemas.microsoft.com/office/drawing/2014/main" val="2662057736"/>
                    </a:ext>
                  </a:extLst>
                </a:gridCol>
                <a:gridCol w="3006811">
                  <a:extLst>
                    <a:ext uri="{9D8B030D-6E8A-4147-A177-3AD203B41FA5}">
                      <a16:colId xmlns:a16="http://schemas.microsoft.com/office/drawing/2014/main" val="2380589085"/>
                    </a:ext>
                  </a:extLst>
                </a:gridCol>
                <a:gridCol w="2898737">
                  <a:extLst>
                    <a:ext uri="{9D8B030D-6E8A-4147-A177-3AD203B41FA5}">
                      <a16:colId xmlns:a16="http://schemas.microsoft.com/office/drawing/2014/main" val="20380699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1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Benchmark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Lora" pitchFamily="2" charset="0"/>
                        </a:rPr>
                        <a:t>What It Captures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Lora" pitchFamily="2" charset="0"/>
                          <a:cs typeface="Arial"/>
                          <a:sym typeface="Arial"/>
                        </a:rPr>
                        <a:t>Why It </a:t>
                      </a:r>
                      <a:r>
                        <a:rPr lang="en-US" sz="1200" b="1" dirty="0">
                          <a:latin typeface="Lora" pitchFamily="2" charset="0"/>
                        </a:rPr>
                        <a:t>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85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% Residents with Repeat Fall &lt;30 Days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Share of residents falling again within 30 days.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Rapid recurrence indicator; mirrors readmission-style quality triggers.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634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Falls per 100 Residents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Frequency of fall incidents normalized to population size.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Core safety metric; rising rates flag environments or workflows needing review.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640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Median Days Between Falls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Typical interval between repeat falls (among residents with &gt;1).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Shorter intervals imply unresolved risk or insufficient recovery after events.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486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Fall-to-Weight-Event Ratio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Relationship between fall frequency and weight-change events.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Tests whether physiological instability precedes adverse safety events.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377279"/>
                  </a:ext>
                </a:extLst>
              </a:tr>
            </a:tbl>
          </a:graphicData>
        </a:graphic>
      </p:graphicFrame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882698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77E38A-165A-8108-EC70-1D65B0D7C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B66A81EB-C428-A9E8-F6C1-09457AA6FA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Discovery - Incidents</a:t>
            </a:r>
            <a:endParaRPr sz="20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5227DA-FAF0-1081-7A23-5460C82E0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772270"/>
              </p:ext>
            </p:extLst>
          </p:nvPr>
        </p:nvGraphicFramePr>
        <p:xfrm>
          <a:off x="323031" y="1304925"/>
          <a:ext cx="8497938" cy="2011680"/>
        </p:xfrm>
        <a:graphic>
          <a:graphicData uri="http://schemas.openxmlformats.org/drawingml/2006/table">
            <a:tbl>
              <a:tblPr>
                <a:tableStyleId>{506B5915-A98E-4E56-8D00-E4F5FFEB1B49}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75412286"/>
                    </a:ext>
                  </a:extLst>
                </a:gridCol>
                <a:gridCol w="1732708">
                  <a:extLst>
                    <a:ext uri="{9D8B030D-6E8A-4147-A177-3AD203B41FA5}">
                      <a16:colId xmlns:a16="http://schemas.microsoft.com/office/drawing/2014/main" val="2662057736"/>
                    </a:ext>
                  </a:extLst>
                </a:gridCol>
                <a:gridCol w="2239308">
                  <a:extLst>
                    <a:ext uri="{9D8B030D-6E8A-4147-A177-3AD203B41FA5}">
                      <a16:colId xmlns:a16="http://schemas.microsoft.com/office/drawing/2014/main" val="2380589085"/>
                    </a:ext>
                  </a:extLst>
                </a:gridCol>
                <a:gridCol w="3088098">
                  <a:extLst>
                    <a:ext uri="{9D8B030D-6E8A-4147-A177-3AD203B41FA5}">
                      <a16:colId xmlns:a16="http://schemas.microsoft.com/office/drawing/2014/main" val="2038069971"/>
                    </a:ext>
                  </a:extLst>
                </a:gridCol>
                <a:gridCol w="1229544">
                  <a:extLst>
                    <a:ext uri="{9D8B030D-6E8A-4147-A177-3AD203B41FA5}">
                      <a16:colId xmlns:a16="http://schemas.microsoft.com/office/drawing/2014/main" val="2083720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1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Benchmark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Lora" pitchFamily="2" charset="0"/>
                        </a:rPr>
                        <a:t>What It Captures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latin typeface="Lora" pitchFamily="2" charset="0"/>
                          <a:cs typeface="Arial"/>
                          <a:sym typeface="Arial"/>
                        </a:rPr>
                        <a:t>Why It </a:t>
                      </a:r>
                      <a:r>
                        <a:rPr lang="en-US" sz="1200" b="1" dirty="0">
                          <a:latin typeface="Lora" pitchFamily="2" charset="0"/>
                        </a:rPr>
                        <a:t>Matters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Current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985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% Residents with Repeat Fall &lt;30 Days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Share of residents falling again within 30 days.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Rapid recurrence indicator; mirrors readmission-style quality triggers.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Redacted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634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Falls per 100 Residents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Frequency of fall incidents normalized to population size.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Core safety metric; rising rates flag environments or workflows needing review.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Redacted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640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Median Days Between Falls</a:t>
                      </a:r>
                      <a:endParaRPr lang="en-US" sz="1200" dirty="0">
                        <a:latin typeface="Lora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Lora" pitchFamily="2" charset="0"/>
                        </a:rPr>
                        <a:t>Typical interval between repeat falls (among residents with &gt;1).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latin typeface="Lora" pitchFamily="2" charset="0"/>
                        </a:rPr>
                        <a:t>Shorter intervals imply unresolved risk or insufficient recovery after events.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Lora" pitchFamily="2" charset="0"/>
                        </a:rPr>
                        <a:t>Redacted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548653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FD70696-23D0-915F-12F9-F07C92DA4B4B}"/>
              </a:ext>
            </a:extLst>
          </p:cNvPr>
          <p:cNvSpPr/>
          <p:nvPr/>
        </p:nvSpPr>
        <p:spPr>
          <a:xfrm>
            <a:off x="7582616" y="1155084"/>
            <a:ext cx="1172985" cy="2312017"/>
          </a:xfrm>
          <a:prstGeom prst="rect">
            <a:avLst/>
          </a:prstGeom>
          <a:noFill/>
          <a:ln w="571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2225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23C231C-1937-6C0C-45BA-2470EA04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BAED43D9-0838-A03A-9BF8-50D63F4D7F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7</a:t>
            </a:r>
            <a:endParaRPr sz="2000" b="1" dirty="0"/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A95F4A8-F579-EA41-9408-E834B832B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81328"/>
            <a:ext cx="7086600" cy="2697480"/>
          </a:xfrm>
          <a:prstGeom prst="rect">
            <a:avLst/>
          </a:prstGeom>
        </p:spPr>
      </p:pic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02920" y="1078992"/>
            <a:ext cx="77266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30">
                <a:solidFill>
                  <a:srgbClr val="1E1E1E"/>
                </a:solidFill>
                <a:latin typeface="Aptos"/>
              </a:rPr>
              <a:t>Repeat falls increased across many communities, with several showing notable spikes that warrant closer review.</a:t>
            </a:r>
          </a:p>
        </p:txBody>
      </p:sp>
    </p:spTree>
    <p:extLst>
      <p:ext uri="{BB962C8B-B14F-4D97-AF65-F5344CB8AC3E}">
        <p14:creationId xmlns:p14="http://schemas.microsoft.com/office/powerpoint/2010/main" val="3046913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06CD1DC-4FC3-E827-CFE3-F54AF8E47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7F0690B2-3041-E8A0-DAC4-8A4B593E449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8</a:t>
            </a:r>
            <a:endParaRPr sz="2000" b="1" dirty="0"/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B6C4C28-C43E-D926-B471-4891DBF05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81328"/>
            <a:ext cx="7086600" cy="2697480"/>
          </a:xfrm>
          <a:prstGeom prst="rect">
            <a:avLst/>
          </a:prstGeom>
        </p:spPr>
      </p:pic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02920" y="1078992"/>
            <a:ext cx="77266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30">
                <a:solidFill>
                  <a:srgbClr val="1E1E1E"/>
                </a:solidFill>
                <a:latin typeface="Aptos"/>
              </a:rPr>
              <a:t>Incidents per 100 residents increased in some communities, while most remained relatively stable or decreased.</a:t>
            </a:r>
          </a:p>
        </p:txBody>
      </p:sp>
    </p:spTree>
    <p:extLst>
      <p:ext uri="{BB962C8B-B14F-4D97-AF65-F5344CB8AC3E}">
        <p14:creationId xmlns:p14="http://schemas.microsoft.com/office/powerpoint/2010/main" val="4196998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D573878-3539-B95D-C5D5-26A724D4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C8ACE119-3B7E-7379-C28A-2F2EE1C314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399" y="382349"/>
            <a:ext cx="8458057" cy="1294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Benchmark 9</a:t>
            </a:r>
            <a:endParaRPr sz="2000" b="1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DF807ADF-132B-0451-8533-C21DEE41E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81328"/>
            <a:ext cx="7086600" cy="2697480"/>
          </a:xfrm>
          <a:prstGeom prst="rect">
            <a:avLst/>
          </a:prstGeom>
        </p:spPr>
      </p:pic>
      <p:sp>
        <p:nvSpPr>
          <p:cNvPr id="150" name="Rectangle 149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02920" y="1078992"/>
            <a:ext cx="77266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30">
                <a:solidFill>
                  <a:srgbClr val="1E1E1E"/>
                </a:solidFill>
                <a:latin typeface="Aptos"/>
              </a:rPr>
              <a:t>Median days between incidents increased across most communities, with some showing substantial increases in time between events.</a:t>
            </a:r>
          </a:p>
        </p:txBody>
      </p:sp>
    </p:spTree>
    <p:extLst>
      <p:ext uri="{BB962C8B-B14F-4D97-AF65-F5344CB8AC3E}">
        <p14:creationId xmlns:p14="http://schemas.microsoft.com/office/powerpoint/2010/main" val="37223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09FA941-7EF9-F328-332B-438D183B2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6594C593-76A9-5331-CBA9-AB9A18632B9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400" y="382350"/>
            <a:ext cx="8182286" cy="8368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Recommendations</a:t>
            </a:r>
            <a:endParaRPr dirty="0"/>
          </a:p>
        </p:txBody>
      </p:sp>
      <p:sp>
        <p:nvSpPr>
          <p:cNvPr id="150" name="Google Shape;150;p27">
            <a:extLst>
              <a:ext uri="{FF2B5EF4-FFF2-40B4-BE49-F238E27FC236}">
                <a16:creationId xmlns:a16="http://schemas.microsoft.com/office/drawing/2014/main" id="{C8BD3C6A-77AC-3D9B-311C-594360937DB9}"/>
              </a:ext>
            </a:extLst>
          </p:cNvPr>
          <p:cNvSpPr txBox="1"/>
          <p:nvPr/>
        </p:nvSpPr>
        <p:spPr>
          <a:xfrm>
            <a:off x="388400" y="1219200"/>
            <a:ext cx="8320172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600" dirty="0">
                <a:latin typeface="Lora" pitchFamily="2" charset="0"/>
              </a:rPr>
              <a:t>To improve weight monitoring compliance and reduce fall risk, we recommend prioritizing communities that show multiple signals across weight and incident benchmarks, such as:</a:t>
            </a:r>
          </a:p>
          <a:p>
            <a:endParaRPr lang="en-US" sz="1600" dirty="0">
              <a:latin typeface="Lor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ora" pitchFamily="2" charset="0"/>
              </a:rPr>
              <a:t>High % of residents with ≥1 weight-event or fall incident, or high events per 100 residents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ora" pitchFamily="2" charset="0"/>
              </a:rPr>
              <a:t>Median weigh-in intervals &gt;30 days or &gt;30% of residents exceeding the 30-day weigh-in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ora" pitchFamily="2" charset="0"/>
              </a:rPr>
              <a:t>High repeat-fall rates (&lt;30 days) or sharp decreases in median days between incidents</a:t>
            </a:r>
          </a:p>
          <a:p>
            <a:endParaRPr lang="en-US" sz="1600" b="1" dirty="0">
              <a:latin typeface="Lora" pitchFamily="2" charset="0"/>
            </a:endParaRPr>
          </a:p>
        </p:txBody>
      </p:sp>
      <p:sp>
        <p:nvSpPr>
          <p:cNvPr id="151" name="Rectangle 150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21207" y="941832"/>
            <a:ext cx="868680" cy="381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01801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A9DBA7F-C88F-F404-2D4A-CBA1D15F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>
            <a:extLst>
              <a:ext uri="{FF2B5EF4-FFF2-40B4-BE49-F238E27FC236}">
                <a16:creationId xmlns:a16="http://schemas.microsoft.com/office/drawing/2014/main" id="{EB3248CF-0B08-073B-C241-E46B78E5715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8400" y="382350"/>
            <a:ext cx="8182286" cy="8368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sz="1600" b="1">
                <a:solidFill>
                  <a:srgbClr val="222D3A"/>
                </a:solidFill>
                <a:latin typeface="Arial"/>
              </a:rPr>
              <a:t>Additional Hypotheses &amp; Analytic Opportunities</a:t>
            </a:r>
            <a:endParaRPr b="1" dirty="0"/>
          </a:p>
        </p:txBody>
      </p:sp>
      <p:sp>
        <p:nvSpPr>
          <p:cNvPr id="150" name="Google Shape;150;p27">
            <a:extLst>
              <a:ext uri="{FF2B5EF4-FFF2-40B4-BE49-F238E27FC236}">
                <a16:creationId xmlns:a16="http://schemas.microsoft.com/office/drawing/2014/main" id="{4CE198C7-8852-F011-763C-A683894202F8}"/>
              </a:ext>
            </a:extLst>
          </p:cNvPr>
          <p:cNvSpPr txBox="1"/>
          <p:nvPr/>
        </p:nvSpPr>
        <p:spPr>
          <a:xfrm>
            <a:off x="320040" y="796969"/>
            <a:ext cx="8424487" cy="410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1300" b="1" i="1" dirty="0">
                <a:solidFill>
                  <a:srgbClr val="222D3A"/>
                </a:solidFill>
                <a:latin typeface="Lora" pitchFamily="2" charset="0"/>
              </a:rPr>
              <a:t>1. Hypothesis: Communities that weigh residents or document incidents less frequently may appear “stable” simply because events aren’t recorded.</a:t>
            </a:r>
          </a:p>
          <a:p>
            <a:r>
              <a:rPr lang="en-US" sz="1300" i="1" dirty="0">
                <a:solidFill>
                  <a:srgbClr val="222D3A"/>
                </a:solidFill>
                <a:latin typeface="Lora" pitchFamily="2" charset="0"/>
              </a:rPr>
              <a:t>Confirm the true resident denominator per quarter to assess missingness, under-reporting, and census-driven distortion of event rates.</a:t>
            </a:r>
          </a:p>
          <a:p>
            <a:endParaRPr lang="en-US" sz="1300" i="1" dirty="0">
              <a:latin typeface="Lora" pitchFamily="2" charset="0"/>
            </a:endParaRPr>
          </a:p>
          <a:p>
            <a:r>
              <a:rPr lang="en-US" sz="1300" b="1" i="1" dirty="0">
                <a:solidFill>
                  <a:srgbClr val="222D3A"/>
                </a:solidFill>
                <a:latin typeface="Lora" pitchFamily="2" charset="0"/>
              </a:rPr>
              <a:t>2. Hypothesis: Communities with inconsistent weigh-in patterns may also show higher fall rates or shorter intervals between incidents.</a:t>
            </a:r>
          </a:p>
          <a:p>
            <a:r>
              <a:rPr lang="en-US" sz="1300" i="1" dirty="0">
                <a:solidFill>
                  <a:srgbClr val="222D3A"/>
                </a:solidFill>
                <a:latin typeface="Lora" pitchFamily="2" charset="0"/>
              </a:rPr>
              <a:t>Assess communities with unusually low measurement frequency as potential under-detectors rather than low-risk sites.</a:t>
            </a:r>
          </a:p>
          <a:p>
            <a:endParaRPr lang="en-US" sz="1300" i="1" dirty="0">
              <a:latin typeface="Lora" pitchFamily="2" charset="0"/>
            </a:endParaRPr>
          </a:p>
          <a:p>
            <a:r>
              <a:rPr lang="en-US" sz="1300" b="1" i="1" dirty="0">
                <a:solidFill>
                  <a:srgbClr val="222D3A"/>
                </a:solidFill>
                <a:latin typeface="Lora" pitchFamily="2" charset="0"/>
              </a:rPr>
              <a:t>3. Hypothesis: Spikes in events may align with specific operational changes, staffing patterns, or seasonal/holiday periods.</a:t>
            </a:r>
            <a:br>
              <a:rPr lang="en-US" sz="1300" b="1" i="1" dirty="0">
                <a:latin typeface="Lora" pitchFamily="2" charset="0"/>
              </a:rPr>
            </a:br>
            <a:r>
              <a:rPr lang="en-US" sz="1300" i="1" dirty="0">
                <a:solidFill>
                  <a:srgbClr val="222D3A"/>
                </a:solidFill>
                <a:latin typeface="Lora" pitchFamily="2" charset="0"/>
              </a:rPr>
              <a:t>Analyze whether spikes in incidents or weight events align with staffing changes, new processes, or seasonal factors.</a:t>
            </a:r>
          </a:p>
          <a:p>
            <a:endParaRPr lang="en-US" sz="1300" i="1" dirty="0">
              <a:latin typeface="Lora" pitchFamily="2" charset="0"/>
            </a:endParaRPr>
          </a:p>
          <a:p>
            <a:r>
              <a:rPr lang="en-US" sz="1300" b="1" i="1" dirty="0">
                <a:solidFill>
                  <a:srgbClr val="222D3A"/>
                </a:solidFill>
                <a:latin typeface="Lora" pitchFamily="2" charset="0"/>
              </a:rPr>
              <a:t>4. Hypothesis: Weight changes and fall risk vary by BMI range, hydration status, diagnoses, or acuity scores rather than operational issues.</a:t>
            </a:r>
          </a:p>
          <a:p>
            <a:r>
              <a:rPr lang="en-US" sz="1300" i="1" dirty="0">
                <a:solidFill>
                  <a:srgbClr val="222D3A"/>
                </a:solidFill>
                <a:latin typeface="Lora" pitchFamily="2" charset="0"/>
              </a:rPr>
              <a:t>Incorporate height/BMI, hydration-related flags, diagnoses, or acuity indicators to test whether variation reflects case-mix rather than operational inconsistency.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65760" y="4759452"/>
            <a:ext cx="8412480" cy="19050"/>
          </a:xfrm>
          <a:prstGeom prst="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</p:spTree>
    <p:extLst>
      <p:ext uri="{BB962C8B-B14F-4D97-AF65-F5344CB8AC3E}">
        <p14:creationId xmlns:p14="http://schemas.microsoft.com/office/powerpoint/2010/main" val="3304681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49F052C8-3917-6D4C-921D-4427273F8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658368"/>
            <a:ext cx="7315200" cy="3977639"/>
          </a:xfrm>
          <a:prstGeom prst="roundRect">
            <a:avLst/>
          </a:prstGeom>
          <a:solidFill>
            <a:srgbClr val="EBF6F1"/>
          </a:solidFill>
          <a:ln>
            <a:solidFill>
              <a:srgbClr val="EB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4053688"/>
            <a:ext cx="384048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 dirty="0">
                <a:solidFill>
                  <a:srgbClr val="5B9D83"/>
                </a:solidFill>
                <a:latin typeface="Aptos"/>
              </a:rPr>
              <a:t>THE DOMAS GROUP LLC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5990422" cy="6771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222D3A"/>
                </a:solidFill>
                <a:latin typeface="Aptos"/>
              </a:rPr>
              <a:t>Ready to turn recurring reporting friction into a </a:t>
            </a:r>
            <a:endParaRPr lang="en-US" sz="2200" b="1" dirty="0">
              <a:solidFill>
                <a:srgbClr val="222D3A"/>
              </a:solidFill>
              <a:latin typeface="Aptos"/>
            </a:endParaRPr>
          </a:p>
          <a:p>
            <a:pPr algn="l"/>
            <a:r>
              <a:rPr sz="2200" b="1" dirty="0">
                <a:solidFill>
                  <a:srgbClr val="222D3A"/>
                </a:solidFill>
                <a:latin typeface="Aptos"/>
              </a:rPr>
              <a:t>decision-ready data system?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2331720"/>
            <a:ext cx="1234440" cy="50800"/>
          </a:xfrm>
          <a:prstGeom prst="rect">
            <a:avLst/>
          </a:prstGeom>
          <a:solidFill>
            <a:srgbClr val="5B9D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578608"/>
            <a:ext cx="5825313" cy="4062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20" b="0" dirty="0">
                <a:solidFill>
                  <a:srgbClr val="222D3A"/>
                </a:solidFill>
                <a:latin typeface="Aptos"/>
              </a:rPr>
              <a:t>DOMAS helps teams clarify data rules, validation logic, workflows, and reporting </a:t>
            </a:r>
            <a:endParaRPr lang="en-US" sz="1320" b="0" dirty="0">
              <a:solidFill>
                <a:srgbClr val="222D3A"/>
              </a:solidFill>
              <a:latin typeface="Aptos"/>
            </a:endParaRPr>
          </a:p>
          <a:p>
            <a:pPr algn="l"/>
            <a:r>
              <a:rPr sz="1320" b="0" dirty="0">
                <a:solidFill>
                  <a:srgbClr val="222D3A"/>
                </a:solidFill>
                <a:latin typeface="Aptos"/>
              </a:rPr>
              <a:t>so decisions are easier to trust and repeat.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41148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40" b="1">
                <a:solidFill>
                  <a:srgbClr val="5B9D83"/>
                </a:solidFill>
                <a:latin typeface="Aptos"/>
              </a:rPr>
              <a:t>Explore data workflow and decision-support services: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2545569" cy="58169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en-US" sz="1260" b="1" dirty="0">
                <a:solidFill>
                  <a:srgbClr val="232323"/>
                </a:solidFill>
                <a:latin typeface="Aptos"/>
              </a:rPr>
              <a:t>datasystems.</a:t>
            </a:r>
            <a:r>
              <a:rPr sz="1260" b="1" dirty="0">
                <a:solidFill>
                  <a:srgbClr val="232323"/>
                </a:solidFill>
                <a:latin typeface="Aptos"/>
              </a:rPr>
              <a:t>thedomasgroup.com
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93578"/>
            <a:ext cx="3840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626B75"/>
                </a:solidFill>
                <a:latin typeface="Aptos"/>
              </a:rPr>
              <a:t>Meagan Foster, MPS · Founder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759452"/>
            <a:ext cx="9144000" cy="384048"/>
          </a:xfrm>
          <a:prstGeom prst="rect">
            <a:avLst/>
          </a:prstGeom>
          <a:solidFill>
            <a:srgbClr val="7DB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4823460"/>
            <a:ext cx="3840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Aptos"/>
              </a:rPr>
              <a:t>© 2026 The DOMAS Group LLC. All rights reserved.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14316"/>
            <a:ext cx="21945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0">
                <a:solidFill>
                  <a:srgbClr val="FFFFFF"/>
                </a:solidFill>
                <a:latin typeface="Aptos"/>
              </a:rPr>
              <a:t>Anonymized portfolio case study</a:t>
            </a:r>
          </a:p>
        </p:txBody>
      </p:sp>
      <p:pic>
        <p:nvPicPr>
          <p:cNvPr id="17" name="Picture 16" descr="domas_logo_transparent.png">
            <a:extLst>
              <a:ext uri="{FF2B5EF4-FFF2-40B4-BE49-F238E27FC236}">
                <a16:creationId xmlns:a16="http://schemas.microsoft.com/office/drawing/2014/main" id="{F0F7AFAF-5487-CC30-D02B-02779D8A1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185" y="128015"/>
            <a:ext cx="643083" cy="64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021656"/>
      </p:ext>
    </p:extLst>
  </p:cSld>
  <p:clrMapOvr>
    <a:masterClrMapping/>
  </p:clrMapOvr>
</p:sld>
</file>

<file path=ppt/theme/theme1.xml><?xml version="1.0" encoding="utf-8"?>
<a:theme xmlns:a="http://schemas.openxmlformats.org/drawingml/2006/main" name="Portfolio Case Study">
  <a:themeElements>
    <a:clrScheme name="Simple Light">
      <a:dk1>
        <a:srgbClr val="141414"/>
      </a:dk1>
      <a:lt1>
        <a:srgbClr val="FFFFFF"/>
      </a:lt1>
      <a:dk2>
        <a:srgbClr val="595959"/>
      </a:dk2>
      <a:lt2>
        <a:srgbClr val="FDFAF5"/>
      </a:lt2>
      <a:accent1>
        <a:srgbClr val="4865FF"/>
      </a:accent1>
      <a:accent2>
        <a:srgbClr val="328A3B"/>
      </a:accent2>
      <a:accent3>
        <a:srgbClr val="F098D7"/>
      </a:accent3>
      <a:accent4>
        <a:srgbClr val="FF6D39"/>
      </a:accent4>
      <a:accent5>
        <a:srgbClr val="1B1463"/>
      </a:accent5>
      <a:accent6>
        <a:srgbClr val="0D5238"/>
      </a:accent6>
      <a:hlink>
        <a:srgbClr val="4865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2034</Words>
  <Application>Microsoft Office PowerPoint</Application>
  <PresentationFormat>On-screen Show (16:9)</PresentationFormat>
  <Paragraphs>215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Lora</vt:lpstr>
      <vt:lpstr>Inter Light</vt:lpstr>
      <vt:lpstr>Aptos</vt:lpstr>
      <vt:lpstr>DM Sans</vt:lpstr>
      <vt:lpstr>Aptos Narrow</vt:lpstr>
      <vt:lpstr>PT Serif</vt:lpstr>
      <vt:lpstr>DM Sans Medium</vt:lpstr>
      <vt:lpstr>Arial</vt:lpstr>
      <vt:lpstr>Lustria</vt:lpstr>
      <vt:lpstr>Roboto Mono</vt:lpstr>
      <vt:lpstr>Portfolio Case Study</vt:lpstr>
      <vt:lpstr>PowerPoint Presentation</vt:lpstr>
      <vt:lpstr>Objectives</vt:lpstr>
      <vt:lpstr>Data Overview</vt:lpstr>
      <vt:lpstr>Benchmark Discovery - Weight</vt:lpstr>
      <vt:lpstr>Benchmark Discovery - Weight</vt:lpstr>
      <vt:lpstr>Benchmark 1</vt:lpstr>
      <vt:lpstr>Benchmark 2</vt:lpstr>
      <vt:lpstr>Benchmark 3</vt:lpstr>
      <vt:lpstr>Benchmark 4</vt:lpstr>
      <vt:lpstr>Benchmark Discovery - Incidents</vt:lpstr>
      <vt:lpstr>Benchmark Discovery - Incidents</vt:lpstr>
      <vt:lpstr>Benchmark 7</vt:lpstr>
      <vt:lpstr>Benchmark 8</vt:lpstr>
      <vt:lpstr>Benchmark 9</vt:lpstr>
      <vt:lpstr>Recommendations</vt:lpstr>
      <vt:lpstr>Additional Hypotheses &amp; Analytic Opportunities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Operations Benchmarking Case Study - Sanitized Portfolio Sample</dc:title>
  <dc:subject>De-identified portfolio work sample</dc:subject>
  <dc:creator>Meagan Foster</dc:creator>
  <cp:keywords>healthcare operations, benchmarking, data quality, risk monitoring, portfolio sample</cp:keywords>
  <dc:description/>
  <cp:lastModifiedBy>Meagan Foster</cp:lastModifiedBy>
  <cp:revision>14</cp:revision>
  <dcterms:modified xsi:type="dcterms:W3CDTF">2026-09-11T23:21:38Z</dcterms:modified>
</cp:coreProperties>
</file>